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21383625"/>
  <p:notesSz cx="30275213" cy="213836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5">
          <p15:clr>
            <a:srgbClr val="A4A3A4"/>
          </p15:clr>
        </p15:guide>
        <p15:guide id="2" orient="horz" pos="13015">
          <p15:clr>
            <a:srgbClr val="A4A3A4"/>
          </p15:clr>
        </p15:guide>
        <p15:guide id="3" pos="455">
          <p15:clr>
            <a:srgbClr val="A4A3A4"/>
          </p15:clr>
        </p15:guide>
        <p15:guide id="4" pos="18616">
          <p15:clr>
            <a:srgbClr val="A4A3A4"/>
          </p15:clr>
        </p15:guide>
        <p15:guide id="5" pos="6278">
          <p15:clr>
            <a:srgbClr val="A4A3A4"/>
          </p15:clr>
        </p15:guide>
        <p15:guide id="6" pos="6624">
          <p15:clr>
            <a:srgbClr val="A4A3A4"/>
          </p15:clr>
        </p15:guide>
        <p15:guide id="7" pos="12447">
          <p15:clr>
            <a:srgbClr val="A4A3A4"/>
          </p15:clr>
        </p15:guide>
        <p15:guide id="8" pos="1279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>
        <p:scale>
          <a:sx n="37" d="100"/>
          <a:sy n="37" d="100"/>
        </p:scale>
        <p:origin x="1192" y="160"/>
      </p:cViewPr>
      <p:guideLst>
        <p:guide orient="horz" pos="455"/>
        <p:guide orient="horz" pos="13015"/>
        <p:guide pos="455"/>
        <p:guide pos="18616"/>
        <p:guide pos="6278"/>
        <p:guide pos="6624"/>
        <p:guide pos="12447"/>
        <p:guide pos="127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19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jpeg"/><Relationship Id="rId5" Type="http://schemas.openxmlformats.org/officeDocument/2006/relationships/image" Target="../media/image4.emf"/><Relationship Id="rId10" Type="http://schemas.openxmlformats.org/officeDocument/2006/relationships/image" Target="../media/image9.jpeg"/><Relationship Id="rId4" Type="http://schemas.openxmlformats.org/officeDocument/2006/relationships/image" Target="../media/image3.emf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Title block"/>
          <p:cNvGrpSpPr/>
          <p:nvPr/>
        </p:nvGrpSpPr>
        <p:grpSpPr>
          <a:xfrm>
            <a:off x="722376" y="795528"/>
            <a:ext cx="18562320" cy="3264408"/>
            <a:chOff x="722376" y="795528"/>
            <a:chExt cx="18562320" cy="3264408"/>
          </a:xfrm>
        </p:grpSpPr>
        <p:sp>
          <p:nvSpPr>
            <p:cNvPr id="3" name="Eyebrow"/>
            <p:cNvSpPr txBox="1"/>
            <p:nvPr/>
          </p:nvSpPr>
          <p:spPr>
            <a:xfrm>
              <a:off x="722376" y="795528"/>
              <a:ext cx="18562320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700" b="1" i="0" spc="300">
                  <a:solidFill>
                    <a:schemeClr val="accent1"/>
                  </a:solidFill>
                  <a:latin typeface="+mn-lt"/>
                </a:rPr>
                <a:t>BSBS  •  SYSTEM DEVELOPMENT PROJECT</a:t>
              </a:r>
            </a:p>
          </p:txBody>
        </p:sp>
        <p:sp>
          <p:nvSpPr>
            <p:cNvPr id="4" name="Project title"/>
            <p:cNvSpPr txBox="1"/>
            <p:nvPr/>
          </p:nvSpPr>
          <p:spPr>
            <a:xfrm>
              <a:off x="722376" y="1225296"/>
              <a:ext cx="18562320" cy="11887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5400" b="1" i="0">
                  <a:solidFill>
                    <a:schemeClr val="tx1"/>
                  </a:solidFill>
                  <a:latin typeface="+mj-lt"/>
                </a:rPr>
                <a:t>P2P RIDE-SHARING FOR BOTSWANA</a:t>
              </a:r>
            </a:p>
          </p:txBody>
        </p:sp>
        <p:sp>
          <p:nvSpPr>
            <p:cNvPr id="5" name="Description"/>
            <p:cNvSpPr txBox="1"/>
            <p:nvPr/>
          </p:nvSpPr>
          <p:spPr>
            <a:xfrm>
              <a:off x="722376" y="2532888"/>
              <a:ext cx="1856232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2200" b="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</a:rPr>
                <a:t>A geolocation-based mobile app that matches drivers’ spare seats with passengers on compatible routes to share commuting costs</a:t>
              </a:r>
            </a:p>
          </p:txBody>
        </p:sp>
        <p:sp>
          <p:nvSpPr>
            <p:cNvPr id="6" name="Group members"/>
            <p:cNvSpPr txBox="1"/>
            <p:nvPr/>
          </p:nvSpPr>
          <p:spPr>
            <a:xfrm>
              <a:off x="722376" y="3118104"/>
              <a:ext cx="185623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2000" b="0" i="0" dirty="0">
                  <a:solidFill>
                    <a:schemeClr val="tx1"/>
                  </a:solidFill>
                </a:rPr>
                <a:t>Group Members: </a:t>
              </a:r>
              <a:r>
                <a:rPr lang="en-US" sz="2000" b="0" i="0" dirty="0">
                  <a:solidFill>
                    <a:schemeClr val="tx1"/>
                  </a:solidFill>
                </a:rPr>
                <a:t>K</a:t>
              </a:r>
              <a:r>
                <a:rPr lang="en-GB" sz="2000" dirty="0" err="1"/>
                <a:t>atlego</a:t>
              </a:r>
              <a:r>
                <a:rPr lang="en-GB" sz="2000" dirty="0"/>
                <a:t> Renee Baitirile | Jaden Panashe M Williams | </a:t>
              </a:r>
              <a:r>
                <a:rPr lang="en-GB" sz="2000" dirty="0" err="1"/>
                <a:t>Kaene</a:t>
              </a:r>
              <a:r>
                <a:rPr lang="en-GB" sz="2000" dirty="0"/>
                <a:t> </a:t>
              </a:r>
              <a:r>
                <a:rPr lang="en-GB" sz="2000" dirty="0" err="1"/>
                <a:t>Serumola</a:t>
              </a:r>
              <a:r>
                <a:rPr lang="en-GB" sz="2000" dirty="0"/>
                <a:t> | </a:t>
              </a:r>
              <a:r>
                <a:rPr lang="en-GB" sz="2000" dirty="0" err="1"/>
                <a:t>Boago</a:t>
              </a:r>
              <a:r>
                <a:rPr lang="en-GB" sz="2000" dirty="0"/>
                <a:t> Pablo </a:t>
              </a:r>
              <a:r>
                <a:rPr lang="en-GB" sz="2000" dirty="0" err="1"/>
                <a:t>Nkhii</a:t>
              </a:r>
              <a:endParaRPr sz="2000" b="0" i="0" dirty="0">
                <a:solidFill>
                  <a:schemeClr val="tx1"/>
                </a:solidFill>
              </a:endParaRPr>
            </a:p>
          </p:txBody>
        </p:sp>
        <p:sp>
          <p:nvSpPr>
            <p:cNvPr id="7" name="Institution"/>
            <p:cNvSpPr txBox="1"/>
            <p:nvPr/>
          </p:nvSpPr>
          <p:spPr>
            <a:xfrm>
              <a:off x="722376" y="3648456"/>
              <a:ext cx="1856232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lang="en-US" sz="17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BSBS</a:t>
              </a:r>
              <a:r>
                <a:rPr sz="1700" b="0" i="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  •  </a:t>
              </a:r>
              <a:r>
                <a:rPr lang="en-US" sz="1700" b="0" i="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CSE </a:t>
              </a:r>
              <a:r>
                <a:rPr sz="1700" b="0" i="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•  </a:t>
              </a:r>
              <a:r>
                <a:rPr lang="en-US" sz="1700" b="0" i="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2026</a:t>
              </a:r>
              <a:endParaRPr sz="1700" b="0" i="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endParaRPr>
            </a:p>
          </p:txBody>
        </p:sp>
      </p:grpSp>
      <p:grpSp>
        <p:nvGrpSpPr>
          <p:cNvPr id="8" name="Project facts"/>
          <p:cNvGrpSpPr/>
          <p:nvPr/>
        </p:nvGrpSpPr>
        <p:grpSpPr>
          <a:xfrm>
            <a:off x="20308824" y="722376"/>
            <a:ext cx="9244584" cy="3291840"/>
            <a:chOff x="20308824" y="722376"/>
            <a:chExt cx="9244584" cy="3291840"/>
          </a:xfrm>
        </p:grpSpPr>
        <p:sp>
          <p:nvSpPr>
            <p:cNvPr id="9" name="Panel"/>
            <p:cNvSpPr/>
            <p:nvPr/>
          </p:nvSpPr>
          <p:spPr>
            <a:xfrm>
              <a:off x="20308824" y="722376"/>
              <a:ext cx="9244584" cy="3291840"/>
            </a:xfrm>
            <a:prstGeom prst="roundRect">
              <a:avLst>
                <a:gd name="adj" fmla="val 5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0" name="Logo picture"/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7532584" y="1005840"/>
              <a:ext cx="1655064" cy="1655064"/>
            </a:xfrm>
            <a:prstGeom prst="rect">
              <a:avLst/>
            </a:prstGeom>
          </p:spPr>
        </p:pic>
        <p:sp>
          <p:nvSpPr>
            <p:cNvPr id="11" name="Tech Stack label"/>
            <p:cNvSpPr txBox="1"/>
            <p:nvPr/>
          </p:nvSpPr>
          <p:spPr>
            <a:xfrm>
              <a:off x="20738592" y="996696"/>
              <a:ext cx="6428232" cy="329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TECH STACK</a:t>
              </a:r>
            </a:p>
          </p:txBody>
        </p:sp>
        <p:sp>
          <p:nvSpPr>
            <p:cNvPr id="12" name="Tech Stack value"/>
            <p:cNvSpPr txBox="1"/>
            <p:nvPr/>
          </p:nvSpPr>
          <p:spPr>
            <a:xfrm>
              <a:off x="20738592" y="1344168"/>
              <a:ext cx="6428232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900" b="0" i="0">
                  <a:solidFill>
                    <a:schemeClr val="bg1"/>
                  </a:solidFill>
                  <a:latin typeface="+mn-lt"/>
                </a:rPr>
                <a:t>Expo + React Native + Supabase + Google Maps API</a:t>
              </a:r>
            </a:p>
          </p:txBody>
        </p:sp>
        <p:sp>
          <p:nvSpPr>
            <p:cNvPr id="13" name="Duration label"/>
            <p:cNvSpPr txBox="1"/>
            <p:nvPr/>
          </p:nvSpPr>
          <p:spPr>
            <a:xfrm>
              <a:off x="20738592" y="1941576"/>
              <a:ext cx="6428232" cy="329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DURATION</a:t>
              </a:r>
            </a:p>
          </p:txBody>
        </p:sp>
        <p:sp>
          <p:nvSpPr>
            <p:cNvPr id="14" name="Duration value"/>
            <p:cNvSpPr txBox="1"/>
            <p:nvPr/>
          </p:nvSpPr>
          <p:spPr>
            <a:xfrm>
              <a:off x="20738592" y="2289048"/>
              <a:ext cx="6428232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900" b="0" i="0">
                  <a:solidFill>
                    <a:schemeClr val="bg1"/>
                  </a:solidFill>
                  <a:latin typeface="+mn-lt"/>
                </a:rPr>
                <a:t>[Duration]</a:t>
              </a:r>
            </a:p>
          </p:txBody>
        </p:sp>
        <p:sp>
          <p:nvSpPr>
            <p:cNvPr id="15" name="Supervisor label"/>
            <p:cNvSpPr txBox="1"/>
            <p:nvPr/>
          </p:nvSpPr>
          <p:spPr>
            <a:xfrm>
              <a:off x="20738592" y="2886456"/>
              <a:ext cx="6428232" cy="329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SUPERVISOR</a:t>
              </a:r>
            </a:p>
          </p:txBody>
        </p:sp>
        <p:sp>
          <p:nvSpPr>
            <p:cNvPr id="16" name="Supervisor value"/>
            <p:cNvSpPr txBox="1"/>
            <p:nvPr/>
          </p:nvSpPr>
          <p:spPr>
            <a:xfrm>
              <a:off x="20738592" y="3233928"/>
              <a:ext cx="6428232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r>
                <a:rPr lang="en-GB" sz="1800" b="0" i="0" dirty="0">
                  <a:solidFill>
                    <a:schemeClr val="bg1"/>
                  </a:solidFill>
                  <a:effectLst/>
                  <a:latin typeface="system-ui"/>
                </a:rPr>
                <a:t>Mr. </a:t>
              </a:r>
              <a:r>
                <a:rPr lang="en-GB" sz="1800" b="0" i="0" dirty="0" err="1">
                  <a:solidFill>
                    <a:schemeClr val="bg1"/>
                  </a:solidFill>
                  <a:effectLst/>
                  <a:latin typeface="system-ui"/>
                </a:rPr>
                <a:t>Resego</a:t>
              </a:r>
              <a:r>
                <a:rPr lang="en-GB" sz="1800" b="0" i="0" dirty="0">
                  <a:solidFill>
                    <a:schemeClr val="bg1"/>
                  </a:solidFill>
                  <a:effectLst/>
                  <a:latin typeface="system-ui"/>
                </a:rPr>
                <a:t> </a:t>
              </a:r>
              <a:r>
                <a:rPr lang="en-GB" sz="1800" b="0" i="0" dirty="0" err="1">
                  <a:solidFill>
                    <a:schemeClr val="bg1"/>
                  </a:solidFill>
                  <a:effectLst/>
                  <a:latin typeface="system-ui"/>
                </a:rPr>
                <a:t>Rabalone</a:t>
              </a:r>
              <a:endParaRPr lang="en-GB" sz="1800" b="0" i="0" dirty="0">
                <a:solidFill>
                  <a:schemeClr val="bg1"/>
                </a:solidFill>
                <a:latin typeface="+mn-lt"/>
              </a:endParaRPr>
            </a:p>
            <a:p>
              <a:pPr algn="l">
                <a:buNone/>
              </a:pPr>
              <a:endParaRPr lang="en-GB" sz="1900" b="0" i="0" dirty="0">
                <a:solidFill>
                  <a:schemeClr val="bg1"/>
                </a:solidFill>
                <a:latin typeface="+mn-lt"/>
              </a:endParaRPr>
            </a:p>
          </p:txBody>
        </p:sp>
      </p:grpSp>
      <p:grpSp>
        <p:nvGrpSpPr>
          <p:cNvPr id="17" name="Section 1 - Introduction &amp; Problem Statement"/>
          <p:cNvGrpSpPr/>
          <p:nvPr/>
        </p:nvGrpSpPr>
        <p:grpSpPr>
          <a:xfrm>
            <a:off x="722376" y="4434840"/>
            <a:ext cx="9244584" cy="4788000"/>
            <a:chOff x="722376" y="4434840"/>
            <a:chExt cx="9244584" cy="4788000"/>
          </a:xfrm>
        </p:grpSpPr>
        <p:sp>
          <p:nvSpPr>
            <p:cNvPr id="18" name="Card"/>
            <p:cNvSpPr/>
            <p:nvPr/>
          </p:nvSpPr>
          <p:spPr>
            <a:xfrm>
              <a:off x="722376" y="4434840"/>
              <a:ext cx="9244584" cy="4788000"/>
            </a:xfrm>
            <a:prstGeom prst="roundRect">
              <a:avLst>
                <a:gd name="adj" fmla="val 4186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Number pill"/>
            <p:cNvSpPr/>
            <p:nvPr/>
          </p:nvSpPr>
          <p:spPr>
            <a:xfrm>
              <a:off x="1078992" y="4764024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Number"/>
            <p:cNvSpPr txBox="1"/>
            <p:nvPr/>
          </p:nvSpPr>
          <p:spPr>
            <a:xfrm>
              <a:off x="1078992" y="4764024"/>
              <a:ext cx="91440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sz="2200" b="1" i="0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21" name="Heading"/>
            <p:cNvSpPr txBox="1"/>
            <p:nvPr/>
          </p:nvSpPr>
          <p:spPr>
            <a:xfrm>
              <a:off x="2203704" y="4681728"/>
              <a:ext cx="74157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300" b="1" i="0">
                  <a:solidFill>
                    <a:schemeClr val="tx1"/>
                  </a:solidFill>
                  <a:latin typeface="+mj-lt"/>
                </a:rPr>
                <a:t>INTRODUCTION &amp; PROBLEM STATEMENT</a:t>
              </a:r>
            </a:p>
          </p:txBody>
        </p:sp>
        <p:sp>
          <p:nvSpPr>
            <p:cNvPr id="22" name="Introduction text"/>
            <p:cNvSpPr txBox="1"/>
            <p:nvPr/>
          </p:nvSpPr>
          <p:spPr>
            <a:xfrm>
              <a:off x="1078992" y="5577840"/>
              <a:ext cx="8531352" cy="3465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sz="2000" b="1" i="0" dirty="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Background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Commuters in Gaborone depend on private vehicles or public transport, which can be </a:t>
              </a:r>
              <a:r>
                <a:rPr sz="1800" b="1" i="0" dirty="0">
                  <a:solidFill>
                    <a:schemeClr val="tx1"/>
                  </a:solidFill>
                  <a:latin typeface="+mn-lt"/>
                </a:rPr>
                <a:t>costly and hard to coordinate</a:t>
              </a: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.</a:t>
              </a:r>
            </a:p>
            <a:p>
              <a:pPr marL="274320" indent="-274320" algn="l">
                <a:spcAft>
                  <a:spcPts val="16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Ride-sharing lets people on similar routes </a:t>
              </a:r>
              <a:r>
                <a:rPr sz="1800" b="1" i="0" dirty="0">
                  <a:solidFill>
                    <a:schemeClr val="tx1"/>
                  </a:solidFill>
                  <a:latin typeface="+mn-lt"/>
                </a:rPr>
                <a:t>share vehicle capacity</a:t>
              </a: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, cutting costs and vehicles needed (Agatz et al., 2012).</a:t>
              </a:r>
            </a:p>
            <a:p>
              <a:pPr algn="l">
                <a:spcAft>
                  <a:spcPts val="400"/>
                </a:spcAft>
                <a:buNone/>
              </a:pPr>
              <a:r>
                <a:rPr sz="2000" b="1" i="0" dirty="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Problem Statement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Botswana lacks a </a:t>
              </a:r>
              <a:r>
                <a:rPr sz="1800" b="1" i="0" dirty="0">
                  <a:solidFill>
                    <a:schemeClr val="tx1"/>
                  </a:solidFill>
                  <a:latin typeface="+mn-lt"/>
                </a:rPr>
                <a:t>convenient, </a:t>
              </a:r>
              <a:r>
                <a:rPr sz="1800" b="1" i="0" dirty="0" err="1">
                  <a:solidFill>
                    <a:schemeClr val="tx1"/>
                  </a:solidFill>
                  <a:latin typeface="+mn-lt"/>
                </a:rPr>
                <a:t>localised</a:t>
              </a:r>
              <a:r>
                <a:rPr sz="1800" b="1" i="0" dirty="0">
                  <a:solidFill>
                    <a:schemeClr val="tx1"/>
                  </a:solidFill>
                  <a:latin typeface="+mn-lt"/>
                </a:rPr>
                <a:t> and affordable</a:t>
              </a: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 peer-to-peer ride-sharing service for everyday commuters.</a:t>
              </a:r>
            </a:p>
            <a:p>
              <a:pPr marL="274320" indent="-274320" algn="l">
                <a:spcAft>
                  <a:spcPts val="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Ride-hailing apps dispatch a driver to a passenger; they do not match </a:t>
              </a:r>
              <a:r>
                <a:rPr sz="1800" b="1" i="0" dirty="0">
                  <a:solidFill>
                    <a:schemeClr val="tx1"/>
                  </a:solidFill>
                  <a:latin typeface="+mn-lt"/>
                </a:rPr>
                <a:t>seats on journeys already planned</a:t>
              </a: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 with compatible passengers.</a:t>
              </a:r>
            </a:p>
          </p:txBody>
        </p:sp>
      </p:grpSp>
      <p:grpSp>
        <p:nvGrpSpPr>
          <p:cNvPr id="23" name="Section 2 - Literature Review"/>
          <p:cNvGrpSpPr/>
          <p:nvPr/>
        </p:nvGrpSpPr>
        <p:grpSpPr>
          <a:xfrm>
            <a:off x="722376" y="9497160"/>
            <a:ext cx="9244584" cy="9248040"/>
            <a:chOff x="722376" y="9497160"/>
            <a:chExt cx="9244584" cy="9248040"/>
          </a:xfrm>
        </p:grpSpPr>
        <p:sp>
          <p:nvSpPr>
            <p:cNvPr id="24" name="Card"/>
            <p:cNvSpPr/>
            <p:nvPr/>
          </p:nvSpPr>
          <p:spPr>
            <a:xfrm>
              <a:off x="722376" y="9497160"/>
              <a:ext cx="9244584" cy="9248040"/>
            </a:xfrm>
            <a:prstGeom prst="roundRect">
              <a:avLst>
                <a:gd name="adj" fmla="val 1780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Number pill"/>
            <p:cNvSpPr/>
            <p:nvPr/>
          </p:nvSpPr>
          <p:spPr>
            <a:xfrm>
              <a:off x="1078992" y="9826344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Number"/>
            <p:cNvSpPr txBox="1"/>
            <p:nvPr/>
          </p:nvSpPr>
          <p:spPr>
            <a:xfrm>
              <a:off x="1078992" y="9826344"/>
              <a:ext cx="91440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sz="2200" b="1" i="0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27" name="Heading"/>
            <p:cNvSpPr txBox="1"/>
            <p:nvPr/>
          </p:nvSpPr>
          <p:spPr>
            <a:xfrm>
              <a:off x="2203704" y="9744048"/>
              <a:ext cx="74157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300" b="1" i="0">
                  <a:solidFill>
                    <a:schemeClr val="tx1"/>
                  </a:solidFill>
                  <a:latin typeface="+mj-lt"/>
                </a:rPr>
                <a:t>LITERATURE REVIEW</a:t>
              </a:r>
            </a:p>
          </p:txBody>
        </p:sp>
        <p:sp>
          <p:nvSpPr>
            <p:cNvPr id="28" name="Literature review text"/>
            <p:cNvSpPr txBox="1"/>
            <p:nvPr/>
          </p:nvSpPr>
          <p:spPr>
            <a:xfrm>
              <a:off x="1078992" y="10640160"/>
              <a:ext cx="8531352" cy="1764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1" i="0">
                  <a:solidFill>
                    <a:schemeClr val="tx1"/>
                  </a:solidFill>
                  <a:latin typeface="+mn-lt"/>
                </a:rPr>
                <a:t>Dynamic ride-sharing</a:t>
              </a:r>
              <a:r>
                <a:rPr sz="1800" b="0" i="0">
                  <a:solidFill>
                    <a:schemeClr val="tx1"/>
                  </a:solidFill>
                  <a:latin typeface="+mn-lt"/>
                </a:rPr>
                <a:t> pairs travellers with similar itineraries and schedules (Agatz et al., 2012).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>
                  <a:solidFill>
                    <a:schemeClr val="tx1"/>
                  </a:solidFill>
                  <a:latin typeface="+mn-lt"/>
                </a:rPr>
                <a:t>Good matches need </a:t>
              </a:r>
              <a:r>
                <a:rPr sz="1800" b="1" i="0">
                  <a:solidFill>
                    <a:schemeClr val="tx1"/>
                  </a:solidFill>
                  <a:latin typeface="+mn-lt"/>
                </a:rPr>
                <a:t>route, time, seat and detour</a:t>
              </a:r>
              <a:r>
                <a:rPr sz="1800" b="0" i="0">
                  <a:solidFill>
                    <a:schemeClr val="tx1"/>
                  </a:solidFill>
                  <a:latin typeface="+mn-lt"/>
                </a:rPr>
                <a:t> compatibility, not proximity alone (Hong et al., 2017; Stiglic et al., 2016).</a:t>
              </a:r>
            </a:p>
            <a:p>
              <a:pPr marL="274320" indent="-274320" algn="l">
                <a:spcAft>
                  <a:spcPts val="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1" i="0">
                  <a:solidFill>
                    <a:schemeClr val="tx1"/>
                  </a:solidFill>
                  <a:latin typeface="+mn-lt"/>
                </a:rPr>
                <a:t>Gap:</a:t>
              </a:r>
              <a:r>
                <a:rPr sz="1800" b="0" i="0">
                  <a:solidFill>
                    <a:schemeClr val="tx1"/>
                  </a:solidFill>
                  <a:latin typeface="+mn-lt"/>
                </a:rPr>
                <a:t> no local platform built on existing journeys and available seats.</a:t>
              </a:r>
            </a:p>
          </p:txBody>
        </p:sp>
        <p:graphicFrame>
          <p:nvGraphicFramePr>
            <p:cNvPr id="29" name="Comparison table"/>
            <p:cNvGraphicFramePr>
              <a:graphicFrameLocks noGrp="1"/>
            </p:cNvGraphicFramePr>
            <p:nvPr/>
          </p:nvGraphicFramePr>
          <p:xfrm>
            <a:off x="1078992" y="12458160"/>
            <a:ext cx="8531352" cy="2502000"/>
          </p:xfrm>
          <a:graphic>
            <a:graphicData uri="http://schemas.openxmlformats.org/drawingml/2006/table">
              <a:tbl>
                <a:tblPr>
                  <a:tableStyleId>{5940675A-B579-460E-94D1-54222C63F5DA}</a:tableStyleId>
                </a:tblPr>
                <a:tblGrid>
                  <a:gridCol w="15840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4560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491352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42000"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System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Strength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Limitation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40000"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tx1"/>
                            </a:solidFill>
                            <a:latin typeface="+mn-lt"/>
                          </a:rPr>
                          <a:t>Uber / Bolt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On-demand requests, live driver matching, scheduled rides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Driver travels to the passenger; not built on seats on planned journeys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40000"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tx1"/>
                            </a:solidFill>
                            <a:latin typeface="+mn-lt"/>
                          </a:rPr>
                          <a:t>inDrive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Passenger-proposed prices; drivers accept, decline or counter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Price negotiation rather than route and seat compatibility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40000"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tx1"/>
                            </a:solidFill>
                            <a:latin typeface="+mn-lt"/>
                          </a:rPr>
                          <a:t>BlaBlaCar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Drivers publish journeys with seats; costs are shared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Full platform; not tailored to urban commuting in Botswana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40000"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tx1"/>
                            </a:solidFill>
                            <a:latin typeface="+mn-lt"/>
                          </a:rPr>
                          <a:t>Proposed artifact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 gridSpan="2"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Matches drivers’ planned journeys with passengers by route, time and seats for local commuting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/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  <p:pic>
          <p:nvPicPr>
            <p:cNvPr id="30" name="Framework picture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080158" y="15212160"/>
              <a:ext cx="8529020" cy="2703395"/>
            </a:xfrm>
            <a:prstGeom prst="rect">
              <a:avLst/>
            </a:prstGeom>
          </p:spPr>
        </p:pic>
        <p:sp>
          <p:nvSpPr>
            <p:cNvPr id="31" name="Framework caption"/>
            <p:cNvSpPr txBox="1"/>
            <p:nvPr/>
          </p:nvSpPr>
          <p:spPr>
            <a:xfrm>
              <a:off x="1078992" y="17969555"/>
              <a:ext cx="853135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500" b="0" i="1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1. [Conceptual framework]</a:t>
              </a:r>
            </a:p>
          </p:txBody>
        </p:sp>
      </p:grpSp>
      <p:grpSp>
        <p:nvGrpSpPr>
          <p:cNvPr id="32" name="Section 3 - System Design"/>
          <p:cNvGrpSpPr/>
          <p:nvPr/>
        </p:nvGrpSpPr>
        <p:grpSpPr>
          <a:xfrm>
            <a:off x="10515600" y="4434840"/>
            <a:ext cx="9244584" cy="14310360"/>
            <a:chOff x="10515600" y="4434840"/>
            <a:chExt cx="9244584" cy="14310360"/>
          </a:xfrm>
        </p:grpSpPr>
        <p:sp>
          <p:nvSpPr>
            <p:cNvPr id="33" name="Card"/>
            <p:cNvSpPr/>
            <p:nvPr/>
          </p:nvSpPr>
          <p:spPr>
            <a:xfrm>
              <a:off x="10515600" y="4434840"/>
              <a:ext cx="9244584" cy="14310360"/>
            </a:xfrm>
            <a:prstGeom prst="roundRect">
              <a:avLst>
                <a:gd name="adj" fmla="val 1780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Number pill"/>
            <p:cNvSpPr/>
            <p:nvPr/>
          </p:nvSpPr>
          <p:spPr>
            <a:xfrm>
              <a:off x="10872216" y="4764024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Number"/>
            <p:cNvSpPr txBox="1"/>
            <p:nvPr/>
          </p:nvSpPr>
          <p:spPr>
            <a:xfrm>
              <a:off x="10872216" y="4764024"/>
              <a:ext cx="91440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sz="2200" b="1" i="0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36" name="Heading"/>
            <p:cNvSpPr txBox="1"/>
            <p:nvPr/>
          </p:nvSpPr>
          <p:spPr>
            <a:xfrm>
              <a:off x="11996928" y="4681728"/>
              <a:ext cx="74157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300" b="1" i="0">
                  <a:solidFill>
                    <a:schemeClr val="tx1"/>
                  </a:solidFill>
                  <a:latin typeface="+mj-lt"/>
                </a:rPr>
                <a:t>SYSTEM DESIGN</a:t>
              </a:r>
            </a:p>
          </p:txBody>
        </p:sp>
        <p:sp>
          <p:nvSpPr>
            <p:cNvPr id="37" name="Design list 1"/>
            <p:cNvSpPr txBox="1"/>
            <p:nvPr/>
          </p:nvSpPr>
          <p:spPr>
            <a:xfrm>
              <a:off x="10872216" y="5577840"/>
              <a:ext cx="4082796" cy="2124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1" i="0">
                  <a:solidFill>
                    <a:schemeClr val="tx1"/>
                  </a:solidFill>
                  <a:latin typeface="+mn-lt"/>
                </a:rPr>
                <a:t>16 functional</a:t>
              </a:r>
              <a:r>
                <a:rPr sz="1800" b="0" i="0">
                  <a:solidFill>
                    <a:schemeClr val="tx1"/>
                  </a:solidFill>
                  <a:latin typeface="+mn-lt"/>
                </a:rPr>
                <a:t> and </a:t>
              </a:r>
              <a:r>
                <a:rPr sz="1800" b="1" i="0">
                  <a:solidFill>
                    <a:schemeClr val="tx1"/>
                  </a:solidFill>
                  <a:latin typeface="+mn-lt"/>
                </a:rPr>
                <a:t>8 non-functional</a:t>
              </a:r>
              <a:r>
                <a:rPr sz="1800" b="0" i="0">
                  <a:solidFill>
                    <a:schemeClr val="tx1"/>
                  </a:solidFill>
                  <a:latin typeface="+mn-lt"/>
                </a:rPr>
                <a:t> requirements.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>
                  <a:solidFill>
                    <a:schemeClr val="tx1"/>
                  </a:solidFill>
                  <a:latin typeface="+mn-lt"/>
                </a:rPr>
                <a:t>Drivers offer seats; passengers request rides.</a:t>
              </a:r>
            </a:p>
            <a:p>
              <a:pPr marL="274320" indent="-274320" algn="l">
                <a:spcAft>
                  <a:spcPts val="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>
                  <a:solidFill>
                    <a:schemeClr val="tx1"/>
                  </a:solidFill>
                  <a:latin typeface="+mn-lt"/>
                </a:rPr>
                <a:t>Matching on route, time, seats and detour.</a:t>
              </a:r>
            </a:p>
          </p:txBody>
        </p:sp>
        <p:sp>
          <p:nvSpPr>
            <p:cNvPr id="38" name="Design list 2"/>
            <p:cNvSpPr txBox="1"/>
            <p:nvPr/>
          </p:nvSpPr>
          <p:spPr>
            <a:xfrm>
              <a:off x="15320772" y="5577840"/>
              <a:ext cx="4082796" cy="2124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1" i="0">
                  <a:solidFill>
                    <a:schemeClr val="tx1"/>
                  </a:solidFill>
                  <a:latin typeface="+mn-lt"/>
                </a:rPr>
                <a:t>Expo + React Native</a:t>
              </a:r>
              <a:r>
                <a:rPr sz="1800" b="0" i="0">
                  <a:solidFill>
                    <a:schemeClr val="tx1"/>
                  </a:solidFill>
                  <a:latin typeface="+mn-lt"/>
                </a:rPr>
                <a:t> app for Android and iOS.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1" i="0">
                  <a:solidFill>
                    <a:schemeClr val="tx1"/>
                  </a:solidFill>
                  <a:latin typeface="+mn-lt"/>
                </a:rPr>
                <a:t>Supabase</a:t>
              </a:r>
              <a:r>
                <a:rPr sz="1800" b="0" i="0">
                  <a:solidFill>
                    <a:schemeClr val="tx1"/>
                  </a:solidFill>
                  <a:latin typeface="+mn-lt"/>
                </a:rPr>
                <a:t> for authentication and PostgreSQL data.</a:t>
              </a:r>
            </a:p>
            <a:p>
              <a:pPr marL="274320" indent="-274320" algn="l">
                <a:spcAft>
                  <a:spcPts val="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1" i="0">
                  <a:solidFill>
                    <a:schemeClr val="tx1"/>
                  </a:solidFill>
                  <a:latin typeface="+mn-lt"/>
                </a:rPr>
                <a:t>Google Maps Routes API</a:t>
              </a:r>
              <a:r>
                <a:rPr sz="1800" b="0" i="0">
                  <a:solidFill>
                    <a:schemeClr val="tx1"/>
                  </a:solidFill>
                  <a:latin typeface="+mn-lt"/>
                </a:rPr>
                <a:t> for routes.</a:t>
              </a:r>
            </a:p>
          </p:txBody>
        </p:sp>
        <p:pic>
          <p:nvPicPr>
            <p:cNvPr id="400" name="Diagram 1 picture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0872000" y="8157971"/>
              <a:ext cx="4140000" cy="4087058"/>
            </a:xfrm>
            <a:prstGeom prst="rect">
              <a:avLst/>
            </a:prstGeom>
          </p:spPr>
        </p:pic>
        <p:sp>
          <p:nvSpPr>
            <p:cNvPr id="401" name="Diagram 1 caption"/>
            <p:cNvSpPr txBox="1"/>
            <p:nvPr/>
          </p:nvSpPr>
          <p:spPr>
            <a:xfrm>
              <a:off x="10872000" y="12663000"/>
              <a:ext cx="4140000" cy="36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2. [High-level architecture]</a:t>
              </a:r>
            </a:p>
          </p:txBody>
        </p:sp>
        <p:pic>
          <p:nvPicPr>
            <p:cNvPr id="402" name="Diagram 2 picture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5137606" y="7776000"/>
              <a:ext cx="4193396" cy="4851000"/>
            </a:xfrm>
            <a:prstGeom prst="rect">
              <a:avLst/>
            </a:prstGeom>
          </p:spPr>
        </p:pic>
        <p:sp>
          <p:nvSpPr>
            <p:cNvPr id="403" name="Diagram 2 caption"/>
            <p:cNvSpPr txBox="1"/>
            <p:nvPr/>
          </p:nvSpPr>
          <p:spPr>
            <a:xfrm>
              <a:off x="15263280" y="12663000"/>
              <a:ext cx="4140000" cy="36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3. [Use case diagram]</a:t>
              </a:r>
            </a:p>
          </p:txBody>
        </p:sp>
        <p:pic>
          <p:nvPicPr>
            <p:cNvPr id="404" name="Diagram 3 picture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0872000" y="13637531"/>
              <a:ext cx="4140000" cy="3572161"/>
            </a:xfrm>
            <a:prstGeom prst="rect">
              <a:avLst/>
            </a:prstGeom>
          </p:spPr>
        </p:pic>
        <p:sp>
          <p:nvSpPr>
            <p:cNvPr id="405" name="Diagram 3 caption"/>
            <p:cNvSpPr txBox="1"/>
            <p:nvPr/>
          </p:nvSpPr>
          <p:spPr>
            <a:xfrm>
              <a:off x="10872000" y="18000000"/>
              <a:ext cx="4140000" cy="36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4. [System flowchart]</a:t>
              </a:r>
            </a:p>
          </p:txBody>
        </p:sp>
        <p:pic>
          <p:nvPicPr>
            <p:cNvPr id="406" name="Diagram 4 picture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15137606" y="13637532"/>
              <a:ext cx="4430554" cy="3558948"/>
            </a:xfrm>
            <a:prstGeom prst="rect">
              <a:avLst/>
            </a:prstGeom>
          </p:spPr>
        </p:pic>
        <p:sp>
          <p:nvSpPr>
            <p:cNvPr id="407" name="Diagram 4 caption"/>
            <p:cNvSpPr txBox="1"/>
            <p:nvPr/>
          </p:nvSpPr>
          <p:spPr>
            <a:xfrm>
              <a:off x="15263280" y="18000000"/>
              <a:ext cx="4140000" cy="36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5. [Class diagram]</a:t>
              </a:r>
            </a:p>
          </p:txBody>
        </p:sp>
      </p:grpSp>
      <p:grpSp>
        <p:nvGrpSpPr>
          <p:cNvPr id="51" name="Section 4 - Results &amp; Discussion"/>
          <p:cNvGrpSpPr/>
          <p:nvPr/>
        </p:nvGrpSpPr>
        <p:grpSpPr>
          <a:xfrm>
            <a:off x="20308824" y="4434840"/>
            <a:ext cx="9244584" cy="9354482"/>
            <a:chOff x="20308824" y="4434840"/>
            <a:chExt cx="9244584" cy="9354482"/>
          </a:xfrm>
        </p:grpSpPr>
        <p:sp>
          <p:nvSpPr>
            <p:cNvPr id="52" name="Card"/>
            <p:cNvSpPr/>
            <p:nvPr/>
          </p:nvSpPr>
          <p:spPr>
            <a:xfrm>
              <a:off x="20308824" y="4434840"/>
              <a:ext cx="9244584" cy="8740429"/>
            </a:xfrm>
            <a:prstGeom prst="roundRect">
              <a:avLst>
                <a:gd name="adj" fmla="val 189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Number pill"/>
            <p:cNvSpPr/>
            <p:nvPr/>
          </p:nvSpPr>
          <p:spPr>
            <a:xfrm>
              <a:off x="20665440" y="4764024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Number"/>
            <p:cNvSpPr txBox="1"/>
            <p:nvPr/>
          </p:nvSpPr>
          <p:spPr>
            <a:xfrm>
              <a:off x="20665440" y="4764024"/>
              <a:ext cx="91440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sz="2200" b="1" i="0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55" name="Heading"/>
            <p:cNvSpPr txBox="1"/>
            <p:nvPr/>
          </p:nvSpPr>
          <p:spPr>
            <a:xfrm>
              <a:off x="21790152" y="4681728"/>
              <a:ext cx="74157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300" b="1" i="0">
                  <a:solidFill>
                    <a:schemeClr val="tx1"/>
                  </a:solidFill>
                  <a:latin typeface="+mj-lt"/>
                </a:rPr>
                <a:t>RESULTS &amp; DISCUSSION</a:t>
              </a:r>
            </a:p>
          </p:txBody>
        </p:sp>
        <p:sp>
          <p:nvSpPr>
            <p:cNvPr id="56" name="Results text"/>
            <p:cNvSpPr txBox="1"/>
            <p:nvPr/>
          </p:nvSpPr>
          <p:spPr>
            <a:xfrm>
              <a:off x="20665440" y="5577840"/>
              <a:ext cx="8531352" cy="207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1" i="0">
                  <a:solidFill>
                    <a:schemeClr val="tx1"/>
                  </a:solidFill>
                  <a:latin typeface="+mn-lt"/>
                </a:rPr>
                <a:t>Status:</a:t>
              </a:r>
              <a:r>
                <a:rPr sz="1800" b="0" i="0">
                  <a:solidFill>
                    <a:schemeClr val="tx1"/>
                  </a:solidFill>
                  <a:latin typeface="+mn-lt"/>
                </a:rPr>
                <a:t> requirements and literature review documented; prototype under development.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1" i="0">
                  <a:solidFill>
                    <a:schemeClr val="tx1"/>
                  </a:solidFill>
                  <a:latin typeface="+mn-lt"/>
                </a:rPr>
                <a:t>Evaluation plan:</a:t>
              </a:r>
              <a:r>
                <a:rPr sz="1800" b="0" i="0">
                  <a:solidFill>
                    <a:schemeClr val="tx1"/>
                  </a:solidFill>
                  <a:latin typeface="+mn-lt"/>
                </a:rPr>
                <a:t> test cases, a </a:t>
              </a:r>
              <a:r>
                <a:rPr sz="1800" b="1" i="0">
                  <a:solidFill>
                    <a:schemeClr val="tx1"/>
                  </a:solidFill>
                  <a:latin typeface="+mn-lt"/>
                </a:rPr>
                <a:t>SUS usability survey</a:t>
              </a:r>
              <a:r>
                <a:rPr sz="1800" b="0" i="0">
                  <a:solidFill>
                    <a:schemeClr val="tx1"/>
                  </a:solidFill>
                  <a:latin typeface="+mn-lt"/>
                </a:rPr>
                <a:t> and response-time testing.</a:t>
              </a:r>
            </a:p>
            <a:p>
              <a:pPr marL="274320" indent="-274320" algn="l">
                <a:spcAft>
                  <a:spcPts val="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>
                  <a:solidFill>
                    <a:schemeClr val="tx1"/>
                  </a:solidFill>
                  <a:latin typeface="+mn-lt"/>
                </a:rPr>
                <a:t>Whether commuters find the approach useful will be judged through </a:t>
              </a:r>
              <a:r>
                <a:rPr sz="1800" b="1" i="0">
                  <a:solidFill>
                    <a:schemeClr val="tx1"/>
                  </a:solidFill>
                  <a:latin typeface="+mn-lt"/>
                </a:rPr>
                <a:t>testing and user feedback</a:t>
              </a:r>
              <a:r>
                <a:rPr sz="1800" b="0" i="0">
                  <a:solidFill>
                    <a:schemeClr val="tx1"/>
                  </a:solidFill>
                  <a:latin typeface="+mn-lt"/>
                </a:rPr>
                <a:t>.</a:t>
              </a:r>
            </a:p>
          </p:txBody>
        </p:sp>
        <p:pic>
          <p:nvPicPr>
            <p:cNvPr id="501" name="Screenshot 1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21031314" y="7415280"/>
              <a:ext cx="1614501" cy="2715645"/>
            </a:xfrm>
            <a:prstGeom prst="rect">
              <a:avLst/>
            </a:prstGeom>
          </p:spPr>
        </p:pic>
        <p:pic>
          <p:nvPicPr>
            <p:cNvPr id="502" name="Screenshot 2"/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23155578" y="7433017"/>
              <a:ext cx="1614502" cy="2715645"/>
            </a:xfrm>
            <a:prstGeom prst="rect">
              <a:avLst/>
            </a:prstGeom>
          </p:spPr>
        </p:pic>
        <p:pic>
          <p:nvPicPr>
            <p:cNvPr id="503" name="Screenshot 3"/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25279842" y="7446430"/>
              <a:ext cx="1562495" cy="2715645"/>
            </a:xfrm>
            <a:prstGeom prst="rect">
              <a:avLst/>
            </a:prstGeom>
          </p:spPr>
        </p:pic>
        <p:pic>
          <p:nvPicPr>
            <p:cNvPr id="504" name="Screenshot 4"/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27586851" y="7446430"/>
              <a:ext cx="1562495" cy="2715645"/>
            </a:xfrm>
            <a:prstGeom prst="rect">
              <a:avLst/>
            </a:prstGeom>
          </p:spPr>
        </p:pic>
        <p:sp>
          <p:nvSpPr>
            <p:cNvPr id="58" name="Screenshot caption"/>
            <p:cNvSpPr txBox="1"/>
            <p:nvPr/>
          </p:nvSpPr>
          <p:spPr>
            <a:xfrm>
              <a:off x="20665440" y="10496685"/>
              <a:ext cx="853135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6. [The working artifact in use]</a:t>
              </a:r>
            </a:p>
          </p:txBody>
        </p:sp>
        <p:graphicFrame>
          <p:nvGraphicFramePr>
            <p:cNvPr id="59" name="Evaluation tabl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2264108227"/>
                </p:ext>
              </p:extLst>
            </p:nvPr>
          </p:nvGraphicFramePr>
          <p:xfrm>
            <a:off x="20431761" y="10789466"/>
            <a:ext cx="9121076" cy="2999856"/>
          </p:xfrm>
          <a:graphic>
            <a:graphicData uri="http://schemas.openxmlformats.org/drawingml/2006/table">
              <a:tbl>
                <a:tblPr>
                  <a:tableStyleId>{5940675A-B579-460E-94D1-54222C63F5DA}</a:tableStyleId>
                </a:tblPr>
                <a:tblGrid>
                  <a:gridCol w="169349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96361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117566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346404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342000"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Criterion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Method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Target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Result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40000"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Functionality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Test cases (RQ01–RQ16)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All core requirements met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GB" sz="1600" dirty="0"/>
                          <a:t>Core features working; matching in progress</a:t>
                        </a:r>
                        <a:endParaRPr sz="1500" b="0" i="0" dirty="0">
                          <a:solidFill>
                            <a:schemeClr val="tx1"/>
                          </a:solidFill>
                          <a:latin typeface="+mn-lt"/>
                        </a:endParaRP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40000"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Usability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SUS survey and core-task testing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Core tasks completed with minimal difficulty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GB" sz="1600" dirty="0"/>
                          <a:t>Pending user testing</a:t>
                        </a:r>
                        <a:endParaRPr sz="1500" b="0" i="0" dirty="0">
                          <a:solidFill>
                            <a:schemeClr val="tx1"/>
                          </a:solidFill>
                          <a:latin typeface="+mn-lt"/>
                        </a:endParaRP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40000"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Performance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Match response time (NFR01)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Within the defined prototype target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GB" sz="1600" dirty="0"/>
                          <a:t>Matching slow; being optimised</a:t>
                        </a:r>
                        <a:endParaRPr sz="1500" b="0" i="0" dirty="0">
                          <a:solidFill>
                            <a:schemeClr val="tx1"/>
                          </a:solidFill>
                          <a:latin typeface="+mn-lt"/>
                        </a:endParaRP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</p:grpSp>
      <p:grpSp>
        <p:nvGrpSpPr>
          <p:cNvPr id="60" name="Section 5 - Conclusion"/>
          <p:cNvGrpSpPr/>
          <p:nvPr/>
        </p:nvGrpSpPr>
        <p:grpSpPr>
          <a:xfrm>
            <a:off x="20308824" y="13789322"/>
            <a:ext cx="9244584" cy="2120158"/>
            <a:chOff x="20308824" y="13449589"/>
            <a:chExt cx="9244584" cy="2329571"/>
          </a:xfrm>
        </p:grpSpPr>
        <p:sp>
          <p:nvSpPr>
            <p:cNvPr id="61" name="Card"/>
            <p:cNvSpPr/>
            <p:nvPr/>
          </p:nvSpPr>
          <p:spPr>
            <a:xfrm>
              <a:off x="20308824" y="13449589"/>
              <a:ext cx="9244584" cy="2329571"/>
            </a:xfrm>
            <a:prstGeom prst="roundRect">
              <a:avLst>
                <a:gd name="adj" fmla="val 647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Number pill"/>
            <p:cNvSpPr/>
            <p:nvPr/>
          </p:nvSpPr>
          <p:spPr>
            <a:xfrm>
              <a:off x="20665440" y="13778773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Number"/>
            <p:cNvSpPr txBox="1"/>
            <p:nvPr/>
          </p:nvSpPr>
          <p:spPr>
            <a:xfrm>
              <a:off x="20665440" y="13778773"/>
              <a:ext cx="91440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sz="2200" b="1" i="0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64" name="Heading"/>
            <p:cNvSpPr txBox="1"/>
            <p:nvPr/>
          </p:nvSpPr>
          <p:spPr>
            <a:xfrm>
              <a:off x="21790152" y="13696477"/>
              <a:ext cx="74157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300" b="1" i="0">
                  <a:solidFill>
                    <a:schemeClr val="tx1"/>
                  </a:solidFill>
                  <a:latin typeface="+mj-lt"/>
                </a:rPr>
                <a:t>CONCLUSION</a:t>
              </a:r>
            </a:p>
          </p:txBody>
        </p:sp>
        <p:sp>
          <p:nvSpPr>
            <p:cNvPr id="65" name="Conclusion text"/>
            <p:cNvSpPr txBox="1"/>
            <p:nvPr/>
          </p:nvSpPr>
          <p:spPr>
            <a:xfrm>
              <a:off x="20665440" y="14592589"/>
              <a:ext cx="8531352" cy="104257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Effective ride-sharing needs </a:t>
              </a:r>
              <a:r>
                <a:rPr sz="1800" b="1" i="0" dirty="0">
                  <a:solidFill>
                    <a:schemeClr val="tx1"/>
                  </a:solidFill>
                  <a:latin typeface="+mn-lt"/>
                </a:rPr>
                <a:t>journey compatibility</a:t>
              </a: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, not proximity alone.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Contribution: a </a:t>
              </a:r>
              <a:r>
                <a:rPr sz="1800" b="1" i="0" dirty="0" err="1">
                  <a:solidFill>
                    <a:schemeClr val="tx1"/>
                  </a:solidFill>
                  <a:latin typeface="+mn-lt"/>
                </a:rPr>
                <a:t>localised</a:t>
              </a:r>
              <a:r>
                <a:rPr sz="1800" b="1" i="0" dirty="0">
                  <a:solidFill>
                    <a:schemeClr val="tx1"/>
                  </a:solidFill>
                  <a:latin typeface="+mn-lt"/>
                </a:rPr>
                <a:t> P2P commuting app</a:t>
              </a: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 built on existing journeys.</a:t>
              </a:r>
            </a:p>
            <a:p>
              <a:pPr marL="274320" indent="-274320" algn="l">
                <a:spcAft>
                  <a:spcPts val="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Requirements are defined; testing will show whether they are met.</a:t>
              </a:r>
            </a:p>
          </p:txBody>
        </p:sp>
      </p:grpSp>
      <p:grpSp>
        <p:nvGrpSpPr>
          <p:cNvPr id="66" name="Section 6 - Recommendations &amp; Future Work"/>
          <p:cNvGrpSpPr/>
          <p:nvPr/>
        </p:nvGrpSpPr>
        <p:grpSpPr>
          <a:xfrm>
            <a:off x="20308824" y="16053480"/>
            <a:ext cx="9244584" cy="2691720"/>
            <a:chOff x="20308824" y="16053480"/>
            <a:chExt cx="9244584" cy="2691720"/>
          </a:xfrm>
        </p:grpSpPr>
        <p:sp>
          <p:nvSpPr>
            <p:cNvPr id="67" name="Card"/>
            <p:cNvSpPr/>
            <p:nvPr/>
          </p:nvSpPr>
          <p:spPr>
            <a:xfrm>
              <a:off x="20308824" y="16053480"/>
              <a:ext cx="9244584" cy="2691720"/>
            </a:xfrm>
            <a:prstGeom prst="roundRect">
              <a:avLst>
                <a:gd name="adj" fmla="val 647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Number pill"/>
            <p:cNvSpPr/>
            <p:nvPr/>
          </p:nvSpPr>
          <p:spPr>
            <a:xfrm>
              <a:off x="20665440" y="16382664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Number"/>
            <p:cNvSpPr txBox="1"/>
            <p:nvPr/>
          </p:nvSpPr>
          <p:spPr>
            <a:xfrm>
              <a:off x="20665440" y="16382664"/>
              <a:ext cx="91440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sz="2200" b="1" i="0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70" name="Heading"/>
            <p:cNvSpPr txBox="1"/>
            <p:nvPr/>
          </p:nvSpPr>
          <p:spPr>
            <a:xfrm>
              <a:off x="21790152" y="16300368"/>
              <a:ext cx="74157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300" b="1" i="0">
                  <a:solidFill>
                    <a:schemeClr val="tx1"/>
                  </a:solidFill>
                  <a:latin typeface="+mj-lt"/>
                </a:rPr>
                <a:t>RECOMMENDATIONS &amp; FUTURE WORK</a:t>
              </a:r>
            </a:p>
          </p:txBody>
        </p:sp>
        <p:sp>
          <p:nvSpPr>
            <p:cNvPr id="71" name="Recommendations text"/>
            <p:cNvSpPr txBox="1"/>
            <p:nvPr/>
          </p:nvSpPr>
          <p:spPr>
            <a:xfrm>
              <a:off x="20665440" y="17196480"/>
              <a:ext cx="8531352" cy="14047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1" i="0" dirty="0">
                  <a:solidFill>
                    <a:schemeClr val="tx1"/>
                  </a:solidFill>
                  <a:latin typeface="+mn-lt"/>
                </a:rPr>
                <a:t>Recommend</a:t>
              </a: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 simple, measurable and explainable matching rules.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1" i="0" dirty="0">
                  <a:solidFill>
                    <a:schemeClr val="tx1"/>
                  </a:solidFill>
                  <a:latin typeface="+mn-lt"/>
                </a:rPr>
                <a:t>Limits:</a:t>
              </a: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 relies on connectivity, the Routes API and GPS accuracy.</a:t>
              </a:r>
            </a:p>
            <a:p>
              <a:pPr marL="274320" indent="-274320" algn="l">
                <a:spcAft>
                  <a:spcPts val="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1" i="0" dirty="0">
                  <a:solidFill>
                    <a:schemeClr val="tx1"/>
                  </a:solidFill>
                  <a:latin typeface="+mn-lt"/>
                </a:rPr>
                <a:t>Next:</a:t>
              </a:r>
              <a:r>
                <a:rPr lang="en-US" sz="1800" b="1" i="0" dirty="0">
                  <a:solidFill>
                    <a:schemeClr val="tx1"/>
                  </a:solidFill>
                  <a:latin typeface="+mn-lt"/>
                </a:rPr>
                <a:t> live </a:t>
              </a:r>
              <a:r>
                <a:rPr lang="en-US" b="1" dirty="0"/>
                <a:t>ride </a:t>
              </a:r>
              <a:r>
                <a:rPr lang="en-US" sz="1800" b="1" i="0" dirty="0">
                  <a:solidFill>
                    <a:schemeClr val="tx1"/>
                  </a:solidFill>
                  <a:latin typeface="+mn-lt"/>
                </a:rPr>
                <a:t>tracking </a:t>
              </a:r>
              <a:r>
                <a:rPr lang="en-US" sz="1800" i="0" dirty="0">
                  <a:solidFill>
                    <a:schemeClr val="tx1"/>
                  </a:solidFill>
                  <a:latin typeface="+mn-lt"/>
                </a:rPr>
                <a:t>(like Uber and </a:t>
              </a:r>
              <a:r>
                <a:rPr lang="en-US" dirty="0" err="1"/>
                <a:t>i</a:t>
              </a:r>
              <a:r>
                <a:rPr lang="en-US" sz="1800" i="0" dirty="0" err="1">
                  <a:solidFill>
                    <a:schemeClr val="tx1"/>
                  </a:solidFill>
                  <a:latin typeface="+mn-lt"/>
                </a:rPr>
                <a:t>nDrive</a:t>
              </a:r>
              <a:r>
                <a:rPr lang="en-US" sz="1800" i="0" dirty="0">
                  <a:solidFill>
                    <a:schemeClr val="tx1"/>
                  </a:solidFill>
                  <a:latin typeface="+mn-lt"/>
                </a:rPr>
                <a:t>) and driver and passenger rating</a:t>
              </a:r>
              <a:r>
                <a:rPr sz="1800" b="0" i="0" dirty="0">
                  <a:solidFill>
                    <a:schemeClr val="tx1"/>
                  </a:solidFill>
                  <a:latin typeface="+mn-lt"/>
                </a:rPr>
                <a:t>.</a:t>
              </a:r>
            </a:p>
          </p:txBody>
        </p:sp>
      </p:grpSp>
      <p:grpSp>
        <p:nvGrpSpPr>
          <p:cNvPr id="72" name="References and QR codes"/>
          <p:cNvGrpSpPr/>
          <p:nvPr/>
        </p:nvGrpSpPr>
        <p:grpSpPr>
          <a:xfrm>
            <a:off x="722376" y="19110960"/>
            <a:ext cx="28831032" cy="1554480"/>
            <a:chOff x="722376" y="19110960"/>
            <a:chExt cx="28831032" cy="1554480"/>
          </a:xfrm>
        </p:grpSpPr>
        <p:sp>
          <p:nvSpPr>
            <p:cNvPr id="73" name="Panel"/>
            <p:cNvSpPr/>
            <p:nvPr/>
          </p:nvSpPr>
          <p:spPr>
            <a:xfrm>
              <a:off x="722376" y="19110960"/>
              <a:ext cx="28831032" cy="1554480"/>
            </a:xfrm>
            <a:prstGeom prst="roundRect">
              <a:avLst>
                <a:gd name="adj" fmla="val 10588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ferences label"/>
            <p:cNvSpPr txBox="1"/>
            <p:nvPr/>
          </p:nvSpPr>
          <p:spPr>
            <a:xfrm>
              <a:off x="1152144" y="19242000"/>
              <a:ext cx="2491740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6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REFERENCES</a:t>
              </a:r>
            </a:p>
          </p:txBody>
        </p:sp>
        <p:sp>
          <p:nvSpPr>
            <p:cNvPr id="300" name="References list 1"/>
            <p:cNvSpPr txBox="1"/>
            <p:nvPr/>
          </p:nvSpPr>
          <p:spPr>
            <a:xfrm>
              <a:off x="1152144" y="19638000"/>
              <a:ext cx="8064000" cy="97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Aft>
                  <a:spcPts val="500"/>
                </a:spcAft>
                <a:buNone/>
              </a:pPr>
              <a:r>
                <a:rPr sz="12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Agatz, N., Erera, A., Savelsbergh, M., &amp; Wang, X. (2012). Optimization for dynamic ride-sharing: A review. </a:t>
              </a:r>
              <a:r>
                <a:rPr sz="1200" b="0" i="1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European Journal of Operational Research, 223</a:t>
              </a:r>
              <a:r>
                <a:rPr sz="12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(2), 295–303.</a:t>
              </a:r>
            </a:p>
            <a:p>
              <a:pPr algn="l">
                <a:spcAft>
                  <a:spcPts val="500"/>
                </a:spcAft>
                <a:buNone/>
              </a:pPr>
              <a:r>
                <a:rPr sz="12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Google. (2026a). </a:t>
              </a:r>
              <a:r>
                <a:rPr sz="1200" b="0" i="1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Routes API: Compute Routes</a:t>
              </a:r>
              <a:r>
                <a:rPr sz="12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. Google for Developers. https://developers.google.com/maps/documentation/routes/reference/rest/v2/TopLevel/computeRoutes</a:t>
              </a:r>
            </a:p>
          </p:txBody>
        </p:sp>
        <p:sp>
          <p:nvSpPr>
            <p:cNvPr id="301" name="References list 2"/>
            <p:cNvSpPr txBox="1"/>
            <p:nvPr/>
          </p:nvSpPr>
          <p:spPr>
            <a:xfrm>
              <a:off x="9576144" y="19638000"/>
              <a:ext cx="8064000" cy="97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Aft>
                  <a:spcPts val="500"/>
                </a:spcAft>
                <a:buNone/>
              </a:pPr>
              <a:r>
                <a:rPr sz="12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Google. (2026b). </a:t>
              </a:r>
              <a:r>
                <a:rPr sz="1200" b="0" i="1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Routes API: Compute Route Matrix</a:t>
              </a:r>
              <a:r>
                <a:rPr sz="12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. Google for Developers. https://developers.google.com/maps/documentation/routes/reference/rest/v2/TopLevel/computeRouteMatrix</a:t>
              </a:r>
            </a:p>
            <a:p>
              <a:pPr algn="l">
                <a:spcAft>
                  <a:spcPts val="500"/>
                </a:spcAft>
                <a:buNone/>
              </a:pPr>
              <a:r>
                <a:rPr sz="12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Hong, Z., Chen, Y., Mahmassani, H. S., &amp; Xu, S. (2017). Commuter ride-sharing using topology-based vehicle trajectory clustering. </a:t>
              </a:r>
              <a:r>
                <a:rPr sz="1200" b="0" i="1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Transportation Research Part C: Emerging Technologies, 85</a:t>
              </a:r>
              <a:r>
                <a:rPr sz="12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, 573–590.</a:t>
              </a:r>
            </a:p>
          </p:txBody>
        </p:sp>
        <p:sp>
          <p:nvSpPr>
            <p:cNvPr id="302" name="References list 3"/>
            <p:cNvSpPr txBox="1"/>
            <p:nvPr/>
          </p:nvSpPr>
          <p:spPr>
            <a:xfrm>
              <a:off x="18000144" y="19638000"/>
              <a:ext cx="8064000" cy="97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Aft>
                  <a:spcPts val="500"/>
                </a:spcAft>
                <a:buNone/>
              </a:pPr>
              <a:r>
                <a:rPr sz="12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Stiglic, M., Agatz, N., Savelsbergh, M., &amp; Gradisar, M. (2016). Making dynamic ride-sharing work: The impact of driver and rider flexibility. </a:t>
              </a:r>
              <a:r>
                <a:rPr sz="1200" b="0" i="1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Transportation Research Part E, 91</a:t>
              </a:r>
              <a:r>
                <a:rPr sz="12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, 190–207.</a:t>
              </a:r>
            </a:p>
            <a:p>
              <a:pPr algn="l">
                <a:spcAft>
                  <a:spcPts val="500"/>
                </a:spcAft>
                <a:buNone/>
              </a:pPr>
              <a:r>
                <a:rPr sz="12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Zangenehnejad, F., &amp; Gao, Y. (2021). GNSS smartphones positioning: Advances, challenges, opportunities, and future perspectives. </a:t>
              </a:r>
              <a:r>
                <a:rPr sz="1200" b="0" i="1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Satellite Navigation, 2</a:t>
              </a:r>
              <a:r>
                <a:rPr sz="12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, Article 24.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oster C – Landscape">
  <a:themeElements>
    <a:clrScheme name="Poster C – Landscape">
      <a:dk1>
        <a:srgbClr val="1F2A22"/>
      </a:dk1>
      <a:lt1>
        <a:srgbClr val="FFFFFF"/>
      </a:lt1>
      <a:dk2>
        <a:srgbClr val="1F3A2B"/>
      </a:dk2>
      <a:lt2>
        <a:srgbClr val="F0F4EC"/>
      </a:lt2>
      <a:accent1>
        <a:srgbClr val="2C7A3F"/>
      </a:accent1>
      <a:accent2>
        <a:srgbClr val="9A5B23"/>
      </a:accent2>
      <a:accent3>
        <a:srgbClr val="97BC62"/>
      </a:accent3>
      <a:accent4>
        <a:srgbClr val="C9A66B"/>
      </a:accent4>
      <a:accent5>
        <a:srgbClr val="DCEBD3"/>
      </a:accent5>
      <a:accent6>
        <a:srgbClr val="5F6F64"/>
      </a:accent6>
      <a:hlink>
        <a:srgbClr val="2C7A3F"/>
      </a:hlink>
      <a:folHlink>
        <a:srgbClr val="5F6F64"/>
      </a:folHlink>
    </a:clrScheme>
    <a:fontScheme name="Poster C – Landscape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816</Words>
  <Application>Microsoft Macintosh PowerPoint</Application>
  <PresentationFormat>Custom</PresentationFormat>
  <Paragraphs>90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system-ui</vt:lpstr>
      <vt:lpstr>Poster C – Landscape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Development Poster Template B</dc:title>
  <dc:subject>PptxGenJS Presentation</dc:subject>
  <dc:creator>BSBS</dc:creator>
  <cp:lastModifiedBy>Katlego Renee Baitirile</cp:lastModifiedBy>
  <cp:revision>8</cp:revision>
  <dcterms:created xsi:type="dcterms:W3CDTF">2026-10-12T06:40:15Z</dcterms:created>
  <dcterms:modified xsi:type="dcterms:W3CDTF">2026-10-23T12:35:59Z</dcterms:modified>
</cp:coreProperties>
</file>